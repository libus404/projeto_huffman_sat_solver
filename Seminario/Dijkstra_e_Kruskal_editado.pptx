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609600" y="457200"/>
            <a:ext cx="10972800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609600" y="1209040"/>
            <a:ext cx="10769600" cy="483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609600" y="457200"/>
            <a:ext cx="10972800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609600" y="1209040"/>
            <a:ext cx="10769600" cy="483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226310"/>
            <a:ext cx="10883392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E07A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Seminário de Estruturas de Dados · Linguagem C</a:t>
            </a:r>
            <a:endParaRPr lang="en-US" sz="18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749550"/>
            <a:ext cx="1088339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b="1" i="0" dirty="0">
                <a:solidFill>
                  <a:srgbClr val="F6F4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Dijkstra e Kruskal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12800" y="3752850"/>
            <a:ext cx="10883392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C9D3E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Dois algoritmos clássicos de grafos, explicados com o código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12800" y="4347210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t>Gustavo Romain, Hercules Porfirio e Miguel Machado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609600" y="457200"/>
            <a:ext cx="11301984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grafo do exemplo</a:t>
            </a:r>
            <a:endParaRPr lang="en-US" sz="3200" dirty="0"/>
          </a:p>
        </p:txBody>
      </p:sp>
      <p:pic>
        <p:nvPicPr>
          <p:cNvPr id="3" name="Image 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9600" y="1082040"/>
            <a:ext cx="6350000" cy="29908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264400" y="1564640"/>
            <a:ext cx="4447540" cy="339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70"/>
              </a:lnSpc>
              <a:buNone/>
            </a:pPr>
            <a:r>
              <a:rPr lang="en-US" sz="1900" b="1" dirty="0">
                <a:solidFill>
                  <a:srgbClr val="E07A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Vértices:</a:t>
            </a:r>
            <a:r>
              <a:rPr lang="en-US" sz="190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as cidades (A a F)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7264400" y="2030730"/>
            <a:ext cx="4447540" cy="339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70"/>
              </a:lnSpc>
              <a:buNone/>
            </a:pPr>
            <a:r>
              <a:rPr lang="en-US" sz="1900" b="1" dirty="0">
                <a:solidFill>
                  <a:srgbClr val="E07A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Arestas:</a:t>
            </a:r>
            <a:r>
              <a:rPr lang="en-US" sz="190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as estradas entre elas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7264400" y="2496820"/>
            <a:ext cx="4447540" cy="339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70"/>
              </a:lnSpc>
              <a:buNone/>
            </a:pPr>
            <a:r>
              <a:rPr lang="en-US" sz="1900" b="1" dirty="0">
                <a:solidFill>
                  <a:srgbClr val="E07A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Pesos:</a:t>
            </a:r>
            <a:r>
              <a:rPr lang="en-US" sz="190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 distância em km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7264400" y="2962910"/>
            <a:ext cx="4447540" cy="652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70"/>
              </a:lnSpc>
              <a:buNone/>
            </a:pPr>
            <a:r>
              <a:rPr lang="en-US" sz="190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cidades e 9 estradas, o mesmo grafo nos dois códigos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Dijkstra: a ideia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620520"/>
            <a:ext cx="10883392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Acha o menor caminho de um ponto de partida até todos os outros.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69077" y="2255520"/>
            <a:ext cx="10817971" cy="1835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48523" indent="-248523">
              <a:lnSpc>
                <a:spcPts val="2850"/>
              </a:lnSpc>
              <a:buSzPct val="100000"/>
              <a:buFontTx/>
              <a:buAutoNum type="arabicPeriod" startAt="1"/>
            </a:pPr>
            <a:r>
              <a:rPr lang="en-US" sz="190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 da origem = 0; todos os outros = infinito.</a:t>
            </a:r>
            <a:endParaRPr lang="en-US" sz="1900" dirty="0"/>
          </a:p>
          <a:p>
            <a:pPr algn="l" marL="248523" indent="-248523">
              <a:lnSpc>
                <a:spcPts val="2850"/>
              </a:lnSpc>
              <a:buSzPct val="100000"/>
              <a:buFontTx/>
              <a:buAutoNum type="arabicPeriod" startAt="1"/>
            </a:pPr>
            <a:r>
              <a:rPr lang="en-US" sz="190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Escolhe o vértice aberto de menor custo e o fecha.</a:t>
            </a:r>
            <a:endParaRPr lang="en-US" sz="1900" dirty="0"/>
          </a:p>
          <a:p>
            <a:pPr algn="l" marL="248523" indent="-248523">
              <a:lnSpc>
                <a:spcPts val="2850"/>
              </a:lnSpc>
              <a:buSzPct val="100000"/>
              <a:buFontTx/>
              <a:buAutoNum type="arabicPeriod" startAt="1"/>
            </a:pPr>
            <a:r>
              <a:rPr lang="en-US" sz="190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 cada vizinho, vê se passar por ele sai mais barato.</a:t>
            </a:r>
            <a:endParaRPr lang="en-US" sz="1900" dirty="0"/>
          </a:p>
          <a:p>
            <a:pPr algn="l" marL="248523" indent="-248523">
              <a:lnSpc>
                <a:spcPts val="2850"/>
              </a:lnSpc>
              <a:buSzPct val="100000"/>
              <a:buFontTx/>
              <a:buAutoNum type="arabicPeriod" startAt="1"/>
            </a:pPr>
            <a:r>
              <a:rPr lang="en-US" sz="190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 sair, atualiza o custo e guarda de quem veio (pai).</a:t>
            </a:r>
            <a:endParaRPr lang="en-US" sz="1900" dirty="0"/>
          </a:p>
          <a:p>
            <a:pPr algn="l" marL="248523" indent="-248523">
              <a:lnSpc>
                <a:spcPts val="2850"/>
              </a:lnSpc>
              <a:buSzPct val="100000"/>
              <a:buFontTx/>
              <a:buAutoNum type="arabicPeriod" startAt="1"/>
            </a:pPr>
            <a:r>
              <a:rPr lang="en-US" sz="190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Repete até fechar todos.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12800" y="6238241"/>
            <a:ext cx="401907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Importante: só funciona com pesos não negativos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609600" y="457200"/>
            <a:ext cx="11301984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Dijkstra: o caminho do algoritmo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576769" y="1082041"/>
            <a:ext cx="3399663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E07A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Rodada 1: cidade da vez A</a:t>
            </a:r>
            <a:endParaRPr lang="en-US" sz="1900" dirty="0"/>
          </a:p>
        </p:txBody>
      </p:sp>
      <p:pic>
        <p:nvPicPr>
          <p:cNvPr id="4" name="Image 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9600" y="1447800"/>
            <a:ext cx="5334000" cy="25082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7572" y="4032250"/>
            <a:ext cx="4258056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Estradas de A: B = 0+7, C = 0+9, F = 0+14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200709" y="1082041"/>
            <a:ext cx="3429381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E07A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Rodada 3: cidade da vez C</a:t>
            </a:r>
            <a:endParaRPr lang="en-US" sz="1900" dirty="0"/>
          </a:p>
        </p:txBody>
      </p:sp>
      <p:pic>
        <p:nvPicPr>
          <p:cNvPr id="7" name="Image 1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48400" y="1447800"/>
            <a:ext cx="5334000" cy="25082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732945" y="4032250"/>
            <a:ext cx="4364831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 até F: 9 + 2 = 11, menor que 14. Atualiza!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609600" y="4467225"/>
            <a:ext cx="11301984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B64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Amarelo = cidade da vez · Verde = já visitada · Cinza = ainda aberta · Número em cima = gasto (menor distância até agora)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609600" y="457200"/>
            <a:ext cx="11301984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Dijkstra: resultado final</a:t>
            </a:r>
            <a:endParaRPr lang="en-US" sz="3200" dirty="0"/>
          </a:p>
        </p:txBody>
      </p:sp>
      <p:pic>
        <p:nvPicPr>
          <p:cNvPr id="3" name="Image 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9600" y="1082039"/>
            <a:ext cx="6350000" cy="299085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264400" y="1082039"/>
            <a:ext cx="4318000" cy="3063240"/>
          </a:xfrm>
          <a:prstGeom prst="roundRect">
            <a:avLst>
              <a:gd name="adj" fmla="val 3317"/>
            </a:avLst>
          </a:prstGeom>
          <a:solidFill>
            <a:srgbClr val="FFFFFF"/>
          </a:solidFill>
          <a:ln/>
        </p:spPr>
      </p:sp>
      <p:sp>
        <p:nvSpPr>
          <p:cNvPr id="5" name="Text 2"/>
          <p:cNvSpPr/>
          <p:nvPr/>
        </p:nvSpPr>
        <p:spPr>
          <a:xfrm>
            <a:off x="7518400" y="1336039"/>
            <a:ext cx="39243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E07A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 e caminho desde A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7518400" y="1729739"/>
            <a:ext cx="3924300" cy="322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</a:t>
            </a:r>
            <a:r>
              <a:rPr lang="en-US" sz="180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7 · A → B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518400" y="2115821"/>
            <a:ext cx="3924300" cy="322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</a:t>
            </a:r>
            <a:r>
              <a:rPr lang="en-US" sz="180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9 · A → C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518400" y="2501900"/>
            <a:ext cx="3924300" cy="322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</a:t>
            </a:r>
            <a:r>
              <a:rPr lang="en-US" sz="180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11 · A → C → F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518400" y="2887982"/>
            <a:ext cx="3924300" cy="322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</a:t>
            </a:r>
            <a:r>
              <a:rPr lang="en-US" sz="180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20 · A → C → D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518400" y="3274061"/>
            <a:ext cx="3924300" cy="322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</a:t>
            </a:r>
            <a:r>
              <a:rPr lang="en-US" sz="180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20 · A → C → F → E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7518400" y="3660139"/>
            <a:ext cx="39243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B64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Linhas verdes = de onde cada cidade veio (o pai)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Dijkstra: o código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620521"/>
            <a:ext cx="6116320" cy="3365500"/>
          </a:xfrm>
          <a:prstGeom prst="roundRect">
            <a:avLst>
              <a:gd name="adj" fmla="val 3019"/>
            </a:avLst>
          </a:prstGeom>
          <a:solidFill>
            <a:srgbClr val="14213D"/>
          </a:solidFill>
          <a:ln/>
        </p:spPr>
        <p:txBody>
          <a:bodyPr wrap="square" lIns="224242" tIns="224242" rIns="55993" bIns="198842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F6F4EE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gasto[0] = 0;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F6F4EE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for (rodada = 0; rodada &lt; N; rodada++) {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F6F4EE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u = aberto com menor gasto;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F6F4EE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fechado[u] = 1;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F6F4EE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for (v = 0; v &lt; N; v++)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F6F4EE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  if (gasto[u] + mapa[u][v] &lt; gasto[v]) {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F6F4EE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    gasto[v] = gasto[u] + mapa[u][v];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F6F4EE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    pai[v] = u;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F6F4EE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  }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F6F4EE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}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132320" y="1620521"/>
            <a:ext cx="4246880" cy="336550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7386320" y="1874521"/>
            <a:ext cx="385104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E07A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Saída (origem A)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86320" y="2306321"/>
            <a:ext cx="3851046" cy="154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B: 7 (A → B)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C: 9 (A → C)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F: 11 (A → C → F)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D: 20 (A → C → D)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E: 20 (A → C → F → E)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12800" y="6238239"/>
            <a:ext cx="665978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gasto = custo mínimo até agora · pai = de onde veio · mapa = matriz de distâncias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07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Kruskal: a ideia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620521"/>
            <a:ext cx="10883392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Conecta todos os vértices gastando o mínimo possível (árvore geradora mínima).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69077" y="2255521"/>
            <a:ext cx="10817971" cy="147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48523" indent="-248523">
              <a:lnSpc>
                <a:spcPts val="2850"/>
              </a:lnSpc>
              <a:buSzPct val="100000"/>
              <a:buFontTx/>
              <a:buAutoNum type="arabicPeriod" startAt="1"/>
            </a:pPr>
            <a:r>
              <a:rPr lang="en-US" sz="190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Ordena todas as arestas da mais barata para a mais cara.</a:t>
            </a:r>
            <a:endParaRPr lang="en-US" sz="1900" dirty="0"/>
          </a:p>
          <a:p>
            <a:pPr algn="l" marL="248523" indent="-248523">
              <a:lnSpc>
                <a:spcPts val="2850"/>
              </a:lnSpc>
              <a:buSzPct val="100000"/>
              <a:buFontTx/>
              <a:buAutoNum type="arabicPeriod" startAt="1"/>
            </a:pPr>
            <a:r>
              <a:rPr lang="en-US" sz="190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Cada vértice começa em seu próprio grupo.</a:t>
            </a:r>
            <a:endParaRPr lang="en-US" sz="1900" dirty="0"/>
          </a:p>
          <a:p>
            <a:pPr algn="l" marL="248523" indent="-248523">
              <a:lnSpc>
                <a:spcPts val="2850"/>
              </a:lnSpc>
              <a:buSzPct val="100000"/>
              <a:buFontTx/>
              <a:buAutoNum type="arabicPeriod" startAt="1"/>
            </a:pPr>
            <a:r>
              <a:rPr lang="en-US" sz="190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Pega a próxima aresta: se liga grupos diferentes, aceita e une os grupos.</a:t>
            </a:r>
            <a:endParaRPr lang="en-US" sz="1900" dirty="0"/>
          </a:p>
          <a:p>
            <a:pPr algn="l" marL="248523" indent="-248523">
              <a:lnSpc>
                <a:spcPts val="2850"/>
              </a:lnSpc>
              <a:buSzPct val="100000"/>
              <a:buFontTx/>
              <a:buAutoNum type="arabicPeriod" startAt="1"/>
            </a:pPr>
            <a:r>
              <a:rPr lang="en-US" sz="190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 os dois já estão no mesmo grupo, descarta (formaria ciclo).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12800" y="6238239"/>
            <a:ext cx="363978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controle de grupos é feito com Union-Find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609600" y="457200"/>
            <a:ext cx="11301984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Kruskal: as árvores se juntando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2008926" y="1082039"/>
            <a:ext cx="2535269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E07A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Depois de 3 pontes</a:t>
            </a:r>
            <a:endParaRPr lang="en-US" sz="1900" dirty="0"/>
          </a:p>
        </p:txBody>
      </p:sp>
      <p:pic>
        <p:nvPicPr>
          <p:cNvPr id="4" name="Image 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9600" y="1447800"/>
            <a:ext cx="5334000" cy="25082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2012" y="4032250"/>
            <a:ext cx="4969097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árvores: {A,B} {C,F} {D,E}. Cada cor é uma árvore.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676521" y="1082039"/>
            <a:ext cx="477679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E07A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Fim</a:t>
            </a:r>
            <a:endParaRPr lang="en-US" sz="1900" dirty="0"/>
          </a:p>
        </p:txBody>
      </p:sp>
      <p:pic>
        <p:nvPicPr>
          <p:cNvPr id="7" name="Image 1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48400" y="1447800"/>
            <a:ext cx="5334000" cy="25082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68390" y="4032250"/>
            <a:ext cx="5494020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árvore só. Custo: 2+6+7+9+9 = 33. Vermelho = descartada (formaria ciclo).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445008" y="4724400"/>
            <a:ext cx="1130198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Ordem testada: C-F 2 ✔ · D-E 6 ✔ · A-B 7 ✔ · A-C 9 ✔ · E-F 9 ✔ · B-C 10 ✘ (mesma árvore) · as demais ✘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Kruskal: o código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620521"/>
            <a:ext cx="6116320" cy="3079750"/>
          </a:xfrm>
          <a:prstGeom prst="roundRect">
            <a:avLst>
              <a:gd name="adj" fmla="val 3299"/>
            </a:avLst>
          </a:prstGeom>
          <a:solidFill>
            <a:srgbClr val="14213D"/>
          </a:solidFill>
          <a:ln/>
        </p:spPr>
        <p:txBody>
          <a:bodyPr wrap="square" lIns="224242" tIns="224242" rIns="55993" bIns="198842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F6F4EE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qsort(pontes, E, sizeof(Ponte), menorPrimeiro);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F6F4EE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for (i = 0; i &lt; E; i++) {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F6F4EE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ra = achar(pontes[i].a);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F6F4EE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rb = achar(pontes[i].b);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F6F4EE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if (ra != rb) {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F6F4EE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  chefe[ra] = rb;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F6F4EE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  total += pontes[i].peso;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F6F4EE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}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F6F4EE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}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132320" y="1620521"/>
            <a:ext cx="4246880" cy="3079750"/>
          </a:xfrm>
          <a:prstGeom prst="roundRect">
            <a:avLst>
              <a:gd name="adj" fmla="val 3299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7386320" y="1874521"/>
            <a:ext cx="385104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E07A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Pontes escolhidas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86320" y="2306321"/>
            <a:ext cx="3851046" cy="185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 - F: 2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 - E: 6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- B: 7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- C: 9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 - F: 9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Total: 33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12800" y="6238242"/>
            <a:ext cx="546611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achar(x) descobre o chefe do grupo · chefe[ra] = rb une dois grupos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6F4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Dijkstra x Kruskal</a:t>
            </a:r>
            <a:endParaRPr lang="en-US" sz="3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630681"/>
          <a:ext cx="10556240" cy="2620010"/>
        </p:xfrm>
        <a:graphic>
          <a:graphicData uri="http://schemas.openxmlformats.org/drawingml/2006/table">
            <a:tbl>
              <a:tblPr/>
              <a:tblGrid>
                <a:gridCol w="3518747"/>
                <a:gridCol w="3518747"/>
                <a:gridCol w="3518747"/>
              </a:tblGrid>
              <a:tr h="463550"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endParaRPr lang="en-US" sz="1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E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E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b="1" dirty="0">
                          <a:solidFill>
                            <a:srgbClr val="F6F4E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Dijkstra</a:t>
                      </a:r>
                      <a:endParaRPr lang="en-US" sz="1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555E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E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E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b="1" dirty="0">
                          <a:solidFill>
                            <a:srgbClr val="F6F4E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Kruskal</a:t>
                      </a:r>
                      <a:endParaRPr lang="en-US" sz="1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555E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E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E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4C"/>
                    </a:solidFill>
                  </a:tcPr>
                </a:tc>
              </a:tr>
              <a:tr h="765810"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F6F4E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Resolve</a:t>
                      </a:r>
                      <a:endParaRPr lang="en-US" sz="1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E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F6F4E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Menor caminho a partir de uma origem</a:t>
                      </a:r>
                      <a:endParaRPr lang="en-US" sz="1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E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F6F4E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Árvore geradora mínima</a:t>
                      </a:r>
                      <a:endParaRPr lang="en-US" sz="1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E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3550"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F6F4E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Estratégia</a:t>
                      </a:r>
                      <a:endParaRPr lang="en-US" sz="1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F6F4E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Guloso: vértice mais barato</a:t>
                      </a:r>
                      <a:endParaRPr lang="en-US" sz="1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F6F4E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Guloso: aresta mais barata</a:t>
                      </a:r>
                      <a:endParaRPr lang="en-US" sz="1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3550"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F6F4E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Estrutura</a:t>
                      </a:r>
                      <a:endParaRPr lang="en-US" sz="1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F6F4E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Matriz + vetores de custo</a:t>
                      </a:r>
                      <a:endParaRPr lang="en-US" sz="1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F6F4E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Lista de arestas + Union-Find</a:t>
                      </a:r>
                      <a:endParaRPr lang="en-US" sz="1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3550"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F6F4E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Complexidade</a:t>
                      </a:r>
                      <a:endParaRPr lang="en-US" sz="1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F6F4E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O(V²)</a:t>
                      </a:r>
                      <a:endParaRPr lang="en-US" sz="1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F6F4E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O(E log E)</a:t>
                      </a:r>
                      <a:endParaRPr lang="en-US" sz="1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800" y="4555492"/>
            <a:ext cx="10883392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C9D3E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Ambos são algoritmos gulosos: escolhem o melhor passo local a cada rodada.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jkstra e Kruskal em C">
  <a:themeElements>
    <a:clrScheme name="Dijkstra e Kruskal em C">
      <a:dk1>
        <a:srgbClr val="14213D"/>
      </a:dk1>
      <a:lt1>
        <a:srgbClr val="F6F4EE"/>
      </a:lt1>
      <a:dk2>
        <a:srgbClr val="4D5669"/>
      </a:dk2>
      <a:lt2>
        <a:srgbClr val="DFDFDC"/>
      </a:lt2>
      <a:accent1>
        <a:srgbClr val="E07A1F"/>
      </a:accent1>
      <a:accent2>
        <a:srgbClr val="5B6475"/>
      </a:accent2>
      <a:accent3>
        <a:srgbClr val="C9D3E6"/>
      </a:accent3>
      <a:accent4>
        <a:srgbClr val="9AA0A6"/>
      </a:accent4>
      <a:accent5>
        <a:srgbClr val="6E7584"/>
      </a:accent5>
      <a:accent6>
        <a:srgbClr val="90959E"/>
      </a:accent6>
      <a:hlink>
        <a:srgbClr val="0563C1"/>
      </a:hlink>
      <a:folHlink>
        <a:srgbClr val="954F72"/>
      </a:folHlink>
    </a:clrScheme>
    <a:fontScheme name="Dijkstra e Kruskal em C">
      <a:majorFont>
        <a:latin typeface="Segoe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title>Dijkstra e Kruskal em C</dc:title>
  <dc:subject/>
  <dc:creator>M365 Copilot</dc:creator>
  <lastModifiedBy>M365 Copilot</lastModifiedBy>
  <revision>1</revision>
  <dcterms:created xsi:type="dcterms:W3CDTF">2026-10-21T11:52:55.8292377Z</dcterms:created>
  <dcterms:modified xsi:type="dcterms:W3CDTF">2026-10-21T11:52:55.8292377Z</dcterms:modified>
</coreProperties>
</file>